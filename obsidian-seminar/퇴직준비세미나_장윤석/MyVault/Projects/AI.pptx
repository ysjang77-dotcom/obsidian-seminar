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Inter"/>
      <p:regular r:id="rId8"/>
    </p:embeddedFont>
    <p:embeddedFont>
      <p:font typeface="Inter"/>
      <p:regular r:id="rId9"/>
    </p:embeddedFont>
    <p:embeddedFont>
      <p:font typeface="Inter"/>
      <p:regular r:id="rId10"/>
    </p:embeddedFont>
    <p:embeddedFont>
      <p:font typeface="Inter"/>
      <p:regular r:id="rId11"/>
    </p:embeddedFon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34273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예지보전 시스템 성과 보고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02449" y="779502"/>
            <a:ext cx="2570678" cy="725210"/>
          </a:xfrm>
          <a:prstGeom prst="roundRect">
            <a:avLst>
              <a:gd name="adj" fmla="val 65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23417" y="90047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23417" y="1111568"/>
            <a:ext cx="232874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설비 가동률 향상을 위한 AI 기반 예지보전 시스템 도입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029801" y="779502"/>
            <a:ext cx="2570678" cy="725210"/>
          </a:xfrm>
          <a:prstGeom prst="roundRect">
            <a:avLst>
              <a:gd name="adj" fmla="val 65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50769" y="90047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목표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50769" y="1111568"/>
            <a:ext cx="232874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설비 가동률 향상 및 비계획 정지 최소화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57153" y="779502"/>
            <a:ext cx="2570797" cy="725210"/>
          </a:xfrm>
          <a:prstGeom prst="roundRect">
            <a:avLst>
              <a:gd name="adj" fmla="val 65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121" y="90047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121" y="1111568"/>
            <a:ext cx="232886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2025년 3월 ~ 2026년 1월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02449" y="1589723"/>
            <a:ext cx="279320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현재의 문제: 사후 정비의 한계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3320772" y="1958221"/>
            <a:ext cx="3937754" cy="1580674"/>
          </a:xfrm>
          <a:prstGeom prst="roundRect">
            <a:avLst>
              <a:gd name="adj" fmla="val 5166"/>
            </a:avLst>
          </a:prstGeom>
          <a:solidFill>
            <a:srgbClr val="5E98F1"/>
          </a:solidFill>
          <a:ln/>
        </p:spPr>
      </p:sp>
      <p:sp>
        <p:nvSpPr>
          <p:cNvPr id="14" name="Text 12"/>
          <p:cNvSpPr/>
          <p:nvPr/>
        </p:nvSpPr>
        <p:spPr>
          <a:xfrm>
            <a:off x="3434120" y="201489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심각한 운영 손실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34120" y="2248733"/>
            <a:ext cx="37110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사후 정비 방식으로 인한 막대한 비용과 생산성 저하가 지속되고 있습니다.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61171" y="2021919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995" y="2060853"/>
            <a:ext cx="161603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연간 비계획 정지 47건 발생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995" y="2294692"/>
            <a:ext cx="34625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예측 불가능한 설비 고장으로 생산 라인 중단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61171" y="2544128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995" y="258306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정비 비용 연 12억 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995" y="2816900"/>
            <a:ext cx="34625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긴급 수리 및 부품 교체에 따른 높은 비용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61171" y="3066336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995" y="310526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생산 손실 연 8억 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995" y="3339108"/>
            <a:ext cx="346257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설비 중단으로 인한 직접적인 매출 손실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02449" y="3623905"/>
            <a:ext cx="241994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해결책: AI 예지보전이란?</a:t>
            </a:r>
            <a:endParaRPr lang="en-US" sz="17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3992404"/>
            <a:ext cx="2608421" cy="45362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515797" y="45027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센서 데이터 실시간 분석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515797" y="4713803"/>
            <a:ext cx="2381726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설비의 온도, 진동, 압력 등 다양한 데이터를 24시간 모니터링</a:t>
            </a:r>
            <a:endParaRPr lang="en-US" sz="85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870" y="3992404"/>
            <a:ext cx="2608540" cy="45362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124218" y="45027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고장 72시간 전 예측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124218" y="4713803"/>
            <a:ext cx="238184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알고리즘이 이상 징후를 조기에 감지하고 고장 시점 예측</a:t>
            </a:r>
            <a:endParaRPr lang="en-US" sz="8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411" y="3992404"/>
            <a:ext cx="2608421" cy="45362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732758" y="45027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계획 정비로 전환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732758" y="4713803"/>
            <a:ext cx="2381726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예측된 정보를 바탕으로 최적의 시점에 계획적 정비 수행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3402449" y="518433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도입 성과: 숫자로 증명</a:t>
            </a:r>
            <a:endParaRPr lang="en-US" sz="1750" dirty="0"/>
          </a:p>
        </p:txBody>
      </p:sp>
      <p:sp>
        <p:nvSpPr>
          <p:cNvPr id="36" name="Text 31"/>
          <p:cNvSpPr/>
          <p:nvPr/>
        </p:nvSpPr>
        <p:spPr>
          <a:xfrm>
            <a:off x="3402449" y="5609511"/>
            <a:ext cx="2561273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68%</a:t>
            </a:r>
            <a:endParaRPr lang="en-US" sz="2900" dirty="0"/>
          </a:p>
        </p:txBody>
      </p:sp>
      <p:sp>
        <p:nvSpPr>
          <p:cNvPr id="37" name="Text 32"/>
          <p:cNvSpPr/>
          <p:nvPr/>
        </p:nvSpPr>
        <p:spPr>
          <a:xfrm>
            <a:off x="3974306" y="60829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비계획 정지 감소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3402449" y="6294001"/>
            <a:ext cx="25612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연간 47건에서 15건으로 대폭 감소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6034564" y="5609511"/>
            <a:ext cx="2561273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2900" dirty="0"/>
          </a:p>
        </p:txBody>
      </p:sp>
      <p:sp>
        <p:nvSpPr>
          <p:cNvPr id="40" name="Text 35"/>
          <p:cNvSpPr/>
          <p:nvPr/>
        </p:nvSpPr>
        <p:spPr>
          <a:xfrm>
            <a:off x="6606421" y="60829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정비 비용 절감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034564" y="6294001"/>
            <a:ext cx="25612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 12억 원에서 7.2억 원으로 감소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8666678" y="5609511"/>
            <a:ext cx="2561273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97%</a:t>
            </a:r>
            <a:endParaRPr lang="en-US" sz="2900" dirty="0"/>
          </a:p>
        </p:txBody>
      </p:sp>
      <p:sp>
        <p:nvSpPr>
          <p:cNvPr id="43" name="Text 38"/>
          <p:cNvSpPr/>
          <p:nvPr/>
        </p:nvSpPr>
        <p:spPr>
          <a:xfrm>
            <a:off x="9238536" y="60829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설비 가동률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8666678" y="6294001"/>
            <a:ext cx="256127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92%에서 97%로 5%p 향상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3402449" y="651510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투자 대비 효과 (ROI)</a:t>
            </a:r>
            <a:endParaRPr lang="en-US" sz="175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6947297"/>
            <a:ext cx="3369231" cy="3369231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7056001" y="6947297"/>
            <a:ext cx="2061329" cy="1144786"/>
          </a:xfrm>
          <a:prstGeom prst="roundRect">
            <a:avLst>
              <a:gd name="adj" fmla="val 41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7176968" y="7068264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4950BC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0552" y="7161848"/>
            <a:ext cx="152995" cy="152995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176968" y="746510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개발비 3억 원 투입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7176968" y="7698938"/>
            <a:ext cx="1819394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시스템 구축 및 센서 설치 비용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9174004" y="6947297"/>
            <a:ext cx="2061448" cy="1144786"/>
          </a:xfrm>
          <a:prstGeom prst="roundRect">
            <a:avLst>
              <a:gd name="adj" fmla="val 41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9294971" y="7068264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4950BC"/>
          </a:solidFill>
          <a:ln/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88554" y="7161848"/>
            <a:ext cx="152995" cy="152995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9294971" y="746510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연간 절감 효과 9.6억 원</a:t>
            </a:r>
            <a:endParaRPr lang="en-US" sz="1100" dirty="0"/>
          </a:p>
        </p:txBody>
      </p:sp>
      <p:sp>
        <p:nvSpPr>
          <p:cNvPr id="56" name="Text 48"/>
          <p:cNvSpPr/>
          <p:nvPr/>
        </p:nvSpPr>
        <p:spPr>
          <a:xfrm>
            <a:off x="9294971" y="7698938"/>
            <a:ext cx="1819513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정비 비용 4.8억 원 + 생산 손실 4.8억 원 절감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7056001" y="8148757"/>
            <a:ext cx="4179451" cy="1008698"/>
          </a:xfrm>
          <a:prstGeom prst="roundRect">
            <a:avLst>
              <a:gd name="adj" fmla="val 472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7176968" y="8269724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4950BC"/>
          </a:solidFill>
          <a:ln/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0552" y="8363307"/>
            <a:ext cx="152995" cy="152995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7176968" y="866655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투자회수 기간 4개월</a:t>
            </a:r>
            <a:endParaRPr lang="en-US" sz="1100" dirty="0"/>
          </a:p>
        </p:txBody>
      </p:sp>
      <p:sp>
        <p:nvSpPr>
          <p:cNvPr id="61" name="Text 52"/>
          <p:cNvSpPr/>
          <p:nvPr/>
        </p:nvSpPr>
        <p:spPr>
          <a:xfrm>
            <a:off x="7176968" y="8900398"/>
            <a:ext cx="3937516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빠른 투자 회수로 즉각적인 경영 효과 실현</a:t>
            </a:r>
            <a:endParaRPr lang="en-US" sz="850" dirty="0"/>
          </a:p>
        </p:txBody>
      </p:sp>
      <p:sp>
        <p:nvSpPr>
          <p:cNvPr id="62" name="Text 53"/>
          <p:cNvSpPr/>
          <p:nvPr/>
        </p:nvSpPr>
        <p:spPr>
          <a:xfrm>
            <a:off x="3402449" y="1046523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타 사업장 확산 계획</a:t>
            </a:r>
            <a:endParaRPr lang="en-US" sz="175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2449" y="10833735"/>
            <a:ext cx="7825502" cy="3521393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4897299" y="11022314"/>
            <a:ext cx="1369431" cy="211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1단계 완료</a:t>
            </a:r>
            <a:endParaRPr lang="en-US" sz="1300" dirty="0"/>
          </a:p>
        </p:txBody>
      </p:sp>
      <p:sp>
        <p:nvSpPr>
          <p:cNvPr id="65" name="Text 55"/>
          <p:cNvSpPr/>
          <p:nvPr/>
        </p:nvSpPr>
        <p:spPr>
          <a:xfrm>
            <a:off x="4897299" y="11294131"/>
            <a:ext cx="1369431" cy="253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사업장 시스템 적용 완료</a:t>
            </a:r>
            <a:endParaRPr lang="en-US" sz="1050" dirty="0"/>
          </a:p>
        </p:txBody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34114" y="11939343"/>
            <a:ext cx="303325" cy="303326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6627898" y="13663359"/>
            <a:ext cx="1376955" cy="211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2단계 확장</a:t>
            </a:r>
            <a:endParaRPr lang="en-US" sz="1300" dirty="0"/>
          </a:p>
        </p:txBody>
      </p:sp>
      <p:sp>
        <p:nvSpPr>
          <p:cNvPr id="68" name="Text 57"/>
          <p:cNvSpPr/>
          <p:nvPr/>
        </p:nvSpPr>
        <p:spPr>
          <a:xfrm>
            <a:off x="6627898" y="13935175"/>
            <a:ext cx="1376955" cy="253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창원 공장 적용 — 2026년 하반기</a:t>
            </a:r>
            <a:endParaRPr lang="en-US" sz="1050" dirty="0"/>
          </a:p>
        </p:txBody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64713" y="13045421"/>
            <a:ext cx="303325" cy="303325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8305827" y="10995979"/>
            <a:ext cx="1369430" cy="211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3단계 전사</a:t>
            </a:r>
            <a:endParaRPr lang="en-US" sz="1300" dirty="0"/>
          </a:p>
        </p:txBody>
      </p:sp>
      <p:sp>
        <p:nvSpPr>
          <p:cNvPr id="71" name="Text 59"/>
          <p:cNvSpPr/>
          <p:nvPr/>
        </p:nvSpPr>
        <p:spPr>
          <a:xfrm>
            <a:off x="8305827" y="11267796"/>
            <a:ext cx="1369430" cy="253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 사업장 확대 — 2027년</a:t>
            </a:r>
            <a:endParaRPr lang="en-US" sz="1050" dirty="0"/>
          </a:p>
        </p:txBody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65215" y="11909246"/>
            <a:ext cx="303325" cy="303325"/>
          </a:xfrm>
          <a:prstGeom prst="rect">
            <a:avLst/>
          </a:prstGeom>
        </p:spPr>
      </p:pic>
      <p:sp>
        <p:nvSpPr>
          <p:cNvPr id="73" name="Text 60"/>
          <p:cNvSpPr/>
          <p:nvPr/>
        </p:nvSpPr>
        <p:spPr>
          <a:xfrm>
            <a:off x="3402449" y="14418826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성공적인 파일럿 프로젝트를 바탕으로 전사 확산을 통해 더 큰 경영 성과를 창출하겠습니다.</a:t>
            </a:r>
            <a:endParaRPr lang="en-US" sz="850" dirty="0"/>
          </a:p>
        </p:txBody>
      </p:sp>
      <p:sp>
        <p:nvSpPr>
          <p:cNvPr id="74" name="Shape 61"/>
          <p:cNvSpPr/>
          <p:nvPr/>
        </p:nvSpPr>
        <p:spPr>
          <a:xfrm>
            <a:off x="3402449" y="15419427"/>
            <a:ext cx="7825502" cy="1524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75" name="Shape 62"/>
          <p:cNvSpPr/>
          <p:nvPr/>
        </p:nvSpPr>
        <p:spPr>
          <a:xfrm>
            <a:off x="5333286" y="15079325"/>
            <a:ext cx="15240" cy="34016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76" name="Shape 63"/>
          <p:cNvSpPr/>
          <p:nvPr/>
        </p:nvSpPr>
        <p:spPr>
          <a:xfrm>
            <a:off x="5213390" y="15291852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7" name="Text 64"/>
          <p:cNvSpPr/>
          <p:nvPr/>
        </p:nvSpPr>
        <p:spPr>
          <a:xfrm>
            <a:off x="5255895" y="1531304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78" name="Text 65"/>
          <p:cNvSpPr/>
          <p:nvPr/>
        </p:nvSpPr>
        <p:spPr>
          <a:xfrm>
            <a:off x="4632246" y="146186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2단계: 창원 공장</a:t>
            </a:r>
            <a:endParaRPr lang="en-US" sz="1100" dirty="0"/>
          </a:p>
        </p:txBody>
      </p:sp>
      <p:sp>
        <p:nvSpPr>
          <p:cNvPr id="79" name="Text 66"/>
          <p:cNvSpPr/>
          <p:nvPr/>
        </p:nvSpPr>
        <p:spPr>
          <a:xfrm>
            <a:off x="3515797" y="14829711"/>
            <a:ext cx="365057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2026년 하반기 착수 예정</a:t>
            </a:r>
            <a:endParaRPr lang="en-US" sz="850" dirty="0"/>
          </a:p>
        </p:txBody>
      </p:sp>
      <p:sp>
        <p:nvSpPr>
          <p:cNvPr id="80" name="Shape 67"/>
          <p:cNvSpPr/>
          <p:nvPr/>
        </p:nvSpPr>
        <p:spPr>
          <a:xfrm>
            <a:off x="7307342" y="15419368"/>
            <a:ext cx="15240" cy="34016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81" name="Shape 68"/>
          <p:cNvSpPr/>
          <p:nvPr/>
        </p:nvSpPr>
        <p:spPr>
          <a:xfrm>
            <a:off x="7187446" y="15291852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2" name="Text 69"/>
          <p:cNvSpPr/>
          <p:nvPr/>
        </p:nvSpPr>
        <p:spPr>
          <a:xfrm>
            <a:off x="7229951" y="1531304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83" name="Text 70"/>
          <p:cNvSpPr/>
          <p:nvPr/>
        </p:nvSpPr>
        <p:spPr>
          <a:xfrm>
            <a:off x="6606302" y="1587305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3단계: 전 사업장</a:t>
            </a:r>
            <a:endParaRPr lang="en-US" sz="1100" dirty="0"/>
          </a:p>
        </p:txBody>
      </p:sp>
      <p:sp>
        <p:nvSpPr>
          <p:cNvPr id="84" name="Text 71"/>
          <p:cNvSpPr/>
          <p:nvPr/>
        </p:nvSpPr>
        <p:spPr>
          <a:xfrm>
            <a:off x="5489853" y="16084153"/>
            <a:ext cx="365057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2027년 전국 확대 적용</a:t>
            </a:r>
            <a:endParaRPr lang="en-US" sz="850" dirty="0"/>
          </a:p>
        </p:txBody>
      </p:sp>
      <p:sp>
        <p:nvSpPr>
          <p:cNvPr id="85" name="Shape 72"/>
          <p:cNvSpPr/>
          <p:nvPr/>
        </p:nvSpPr>
        <p:spPr>
          <a:xfrm>
            <a:off x="9281517" y="15079325"/>
            <a:ext cx="15240" cy="34016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86" name="Shape 73"/>
          <p:cNvSpPr/>
          <p:nvPr/>
        </p:nvSpPr>
        <p:spPr>
          <a:xfrm>
            <a:off x="9161621" y="15291852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7" name="Text 74"/>
          <p:cNvSpPr/>
          <p:nvPr/>
        </p:nvSpPr>
        <p:spPr>
          <a:xfrm>
            <a:off x="9204127" y="1531304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88" name="Text 75"/>
          <p:cNvSpPr/>
          <p:nvPr/>
        </p:nvSpPr>
        <p:spPr>
          <a:xfrm>
            <a:off x="8580477" y="146186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예상 절감: 연 50억 원</a:t>
            </a:r>
            <a:endParaRPr lang="en-US" sz="1100" dirty="0"/>
          </a:p>
        </p:txBody>
      </p:sp>
      <p:sp>
        <p:nvSpPr>
          <p:cNvPr id="89" name="Text 76"/>
          <p:cNvSpPr/>
          <p:nvPr/>
        </p:nvSpPr>
        <p:spPr>
          <a:xfrm>
            <a:off x="7463909" y="14829711"/>
            <a:ext cx="3650694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전사 확산 시 기대 효과</a:t>
            </a:r>
            <a:endParaRPr lang="en-US" sz="850" dirty="0"/>
          </a:p>
        </p:txBody>
      </p:sp>
      <p:sp>
        <p:nvSpPr>
          <p:cNvPr id="90" name="Text 77"/>
          <p:cNvSpPr/>
          <p:nvPr/>
        </p:nvSpPr>
        <p:spPr>
          <a:xfrm>
            <a:off x="3402449" y="1630525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경영진 의사결정 요청</a:t>
            </a:r>
            <a:endParaRPr lang="en-US" sz="1750" dirty="0"/>
          </a:p>
        </p:txBody>
      </p:sp>
      <p:sp>
        <p:nvSpPr>
          <p:cNvPr id="91" name="Shape 78"/>
          <p:cNvSpPr/>
          <p:nvPr/>
        </p:nvSpPr>
        <p:spPr>
          <a:xfrm>
            <a:off x="3402449" y="16673751"/>
            <a:ext cx="2570678" cy="887849"/>
          </a:xfrm>
          <a:prstGeom prst="roundRect">
            <a:avLst>
              <a:gd name="adj" fmla="val 536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92" name="Shape 79"/>
          <p:cNvSpPr/>
          <p:nvPr/>
        </p:nvSpPr>
        <p:spPr>
          <a:xfrm>
            <a:off x="3417689" y="16688991"/>
            <a:ext cx="2540198" cy="340162"/>
          </a:xfrm>
          <a:prstGeom prst="roundRect">
            <a:avLst>
              <a:gd name="adj" fmla="val 8627"/>
            </a:avLst>
          </a:prstGeom>
          <a:solidFill>
            <a:srgbClr val="DADBF1"/>
          </a:solidFill>
          <a:ln/>
        </p:spPr>
      </p:sp>
      <p:sp>
        <p:nvSpPr>
          <p:cNvPr id="93" name="Text 80"/>
          <p:cNvSpPr/>
          <p:nvPr/>
        </p:nvSpPr>
        <p:spPr>
          <a:xfrm>
            <a:off x="4602718" y="16748879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94" name="Text 81"/>
          <p:cNvSpPr/>
          <p:nvPr/>
        </p:nvSpPr>
        <p:spPr>
          <a:xfrm>
            <a:off x="3531037" y="17085826"/>
            <a:ext cx="16486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2단계 예산 5억 원 승인 요청</a:t>
            </a:r>
            <a:endParaRPr lang="en-US" sz="1100" dirty="0"/>
          </a:p>
        </p:txBody>
      </p:sp>
      <p:sp>
        <p:nvSpPr>
          <p:cNvPr id="95" name="Text 82"/>
          <p:cNvSpPr/>
          <p:nvPr/>
        </p:nvSpPr>
        <p:spPr>
          <a:xfrm>
            <a:off x="3531037" y="17296924"/>
            <a:ext cx="231350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창원 공장 AI 예지보전 시스템 구축 비용</a:t>
            </a:r>
            <a:endParaRPr lang="en-US" sz="850" dirty="0"/>
          </a:p>
        </p:txBody>
      </p:sp>
      <p:sp>
        <p:nvSpPr>
          <p:cNvPr id="96" name="Shape 83"/>
          <p:cNvSpPr/>
          <p:nvPr/>
        </p:nvSpPr>
        <p:spPr>
          <a:xfrm>
            <a:off x="6029801" y="16673751"/>
            <a:ext cx="2570678" cy="887849"/>
          </a:xfrm>
          <a:prstGeom prst="roundRect">
            <a:avLst>
              <a:gd name="adj" fmla="val 536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97" name="Shape 84"/>
          <p:cNvSpPr/>
          <p:nvPr/>
        </p:nvSpPr>
        <p:spPr>
          <a:xfrm>
            <a:off x="6045041" y="16688991"/>
            <a:ext cx="2540198" cy="340162"/>
          </a:xfrm>
          <a:prstGeom prst="roundRect">
            <a:avLst>
              <a:gd name="adj" fmla="val 8627"/>
            </a:avLst>
          </a:prstGeom>
          <a:solidFill>
            <a:srgbClr val="DADBF1"/>
          </a:solidFill>
          <a:ln/>
        </p:spPr>
      </p:sp>
      <p:sp>
        <p:nvSpPr>
          <p:cNvPr id="98" name="Text 85"/>
          <p:cNvSpPr/>
          <p:nvPr/>
        </p:nvSpPr>
        <p:spPr>
          <a:xfrm>
            <a:off x="7230070" y="16748879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99" name="Text 86"/>
          <p:cNvSpPr/>
          <p:nvPr/>
        </p:nvSpPr>
        <p:spPr>
          <a:xfrm>
            <a:off x="6158389" y="1708582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전담 인력 2명 배정</a:t>
            </a:r>
            <a:endParaRPr lang="en-US" sz="1100" dirty="0"/>
          </a:p>
        </p:txBody>
      </p:sp>
      <p:sp>
        <p:nvSpPr>
          <p:cNvPr id="100" name="Text 87"/>
          <p:cNvSpPr/>
          <p:nvPr/>
        </p:nvSpPr>
        <p:spPr>
          <a:xfrm>
            <a:off x="6158389" y="17296924"/>
            <a:ext cx="231350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시스템 운영 및 확산을 위한 전문 인력 필요</a:t>
            </a:r>
            <a:endParaRPr lang="en-US" sz="850" dirty="0"/>
          </a:p>
        </p:txBody>
      </p:sp>
      <p:sp>
        <p:nvSpPr>
          <p:cNvPr id="101" name="Shape 88"/>
          <p:cNvSpPr/>
          <p:nvPr/>
        </p:nvSpPr>
        <p:spPr>
          <a:xfrm>
            <a:off x="8657153" y="16673751"/>
            <a:ext cx="2570797" cy="887849"/>
          </a:xfrm>
          <a:prstGeom prst="roundRect">
            <a:avLst>
              <a:gd name="adj" fmla="val 536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02" name="Shape 89"/>
          <p:cNvSpPr/>
          <p:nvPr/>
        </p:nvSpPr>
        <p:spPr>
          <a:xfrm>
            <a:off x="8672393" y="16688991"/>
            <a:ext cx="2540318" cy="340162"/>
          </a:xfrm>
          <a:prstGeom prst="roundRect">
            <a:avLst>
              <a:gd name="adj" fmla="val 8627"/>
            </a:avLst>
          </a:prstGeom>
          <a:solidFill>
            <a:srgbClr val="DADBF1"/>
          </a:solidFill>
          <a:ln/>
        </p:spPr>
      </p:sp>
      <p:sp>
        <p:nvSpPr>
          <p:cNvPr id="103" name="Text 90"/>
          <p:cNvSpPr/>
          <p:nvPr/>
        </p:nvSpPr>
        <p:spPr>
          <a:xfrm>
            <a:off x="9857542" y="16748879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04" name="Text 91"/>
          <p:cNvSpPr/>
          <p:nvPr/>
        </p:nvSpPr>
        <p:spPr>
          <a:xfrm>
            <a:off x="8785741" y="1708582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2026년 6월 착수 목표</a:t>
            </a:r>
            <a:endParaRPr lang="en-US" sz="1100" dirty="0"/>
          </a:p>
        </p:txBody>
      </p:sp>
      <p:sp>
        <p:nvSpPr>
          <p:cNvPr id="105" name="Text 92"/>
          <p:cNvSpPr/>
          <p:nvPr/>
        </p:nvSpPr>
        <p:spPr>
          <a:xfrm>
            <a:off x="8785741" y="17296924"/>
            <a:ext cx="231362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신속한 의사결정으로 조기 효과 창출</a:t>
            </a:r>
            <a:endParaRPr lang="en-US" sz="850" dirty="0"/>
          </a:p>
        </p:txBody>
      </p:sp>
      <p:sp>
        <p:nvSpPr>
          <p:cNvPr id="106" name="Text 93"/>
          <p:cNvSpPr/>
          <p:nvPr/>
        </p:nvSpPr>
        <p:spPr>
          <a:xfrm>
            <a:off x="3402449" y="1764661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Q&amp;A / 감사합니다</a:t>
            </a:r>
            <a:endParaRPr lang="en-US" sz="1750" dirty="0"/>
          </a:p>
        </p:txBody>
      </p:sp>
      <p:sp>
        <p:nvSpPr>
          <p:cNvPr id="107" name="Text 94"/>
          <p:cNvSpPr/>
          <p:nvPr/>
        </p:nvSpPr>
        <p:spPr>
          <a:xfrm>
            <a:off x="3402449" y="1807178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KPI 요약</a:t>
            </a:r>
            <a:endParaRPr lang="en-US" sz="1100" dirty="0"/>
          </a:p>
        </p:txBody>
      </p:sp>
      <p:sp>
        <p:nvSpPr>
          <p:cNvPr id="108" name="Text 95"/>
          <p:cNvSpPr/>
          <p:nvPr/>
        </p:nvSpPr>
        <p:spPr>
          <a:xfrm>
            <a:off x="3402449" y="18305621"/>
            <a:ext cx="3774400" cy="54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비계획 정지 68% 감소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설비 가동률 97% 달성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연간 9.6억 원 절감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투자회수 기간 4개월</a:t>
            </a:r>
            <a:endParaRPr lang="en-US" sz="850" dirty="0"/>
          </a:p>
        </p:txBody>
      </p:sp>
      <p:sp>
        <p:nvSpPr>
          <p:cNvPr id="109" name="Text 96"/>
          <p:cNvSpPr/>
          <p:nvPr/>
        </p:nvSpPr>
        <p:spPr>
          <a:xfrm>
            <a:off x="7461171" y="1807178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담당자 연락처</a:t>
            </a:r>
            <a:endParaRPr lang="en-US" sz="1100" dirty="0"/>
          </a:p>
        </p:txBody>
      </p:sp>
      <p:sp>
        <p:nvSpPr>
          <p:cNvPr id="110" name="Text 97"/>
          <p:cNvSpPr/>
          <p:nvPr/>
        </p:nvSpPr>
        <p:spPr>
          <a:xfrm>
            <a:off x="7461171" y="18305621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관련 문의사항이 있으시면 언제든지 연락 주시기 바랍니다.</a:t>
            </a:r>
            <a:endParaRPr lang="en-US" sz="850" dirty="0"/>
          </a:p>
        </p:txBody>
      </p:sp>
      <p:sp>
        <p:nvSpPr>
          <p:cNvPr id="111" name="Text 98"/>
          <p:cNvSpPr/>
          <p:nvPr/>
        </p:nvSpPr>
        <p:spPr>
          <a:xfrm>
            <a:off x="7461171" y="1849838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별첨 자료 안내</a:t>
            </a:r>
            <a:endParaRPr lang="en-US" sz="1100" dirty="0"/>
          </a:p>
        </p:txBody>
      </p:sp>
      <p:sp>
        <p:nvSpPr>
          <p:cNvPr id="112" name="Text 99"/>
          <p:cNvSpPr/>
          <p:nvPr/>
        </p:nvSpPr>
        <p:spPr>
          <a:xfrm>
            <a:off x="7461171" y="18732222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상세 기술 문서 및 ROI 분석 자료를 별도로 제공해 드립니다.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2026-02-11T01:52:57Z</dcterms:created>
  <dcterms:modified xsi:type="dcterms:W3CDTF">2026-02-11T01:52:57Z</dcterms:modified>
</cp:coreProperties>
</file>